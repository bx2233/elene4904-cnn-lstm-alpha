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de-CH" sz="1300" b="0" i="0" u="none" strike="noStrike">
                <a:solidFill>
                  <a:srgbClr val="0D1B2A"/>
                </a:solidFill>
                <a:latin typeface="Arial"/>
              </a:rPr>
              <a:t>Sector PnL Contribution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PnL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D30-2F4C-B8E3-C29BC52C566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D30-2F4C-B8E3-C29BC52C566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D30-2F4C-B8E3-C29BC52C566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D30-2F4C-B8E3-C29BC52C566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D30-2F4C-B8E3-C29BC52C5666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7D30-2F4C-B8E3-C29BC52C5666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7D30-2F4C-B8E3-C29BC52C5666}"/>
              </c:ext>
            </c:extLst>
          </c:dPt>
          <c:dPt>
            <c:idx val="7"/>
            <c:invertIfNegative val="0"/>
            <c:bubble3D val="0"/>
            <c:spPr>
              <a:solidFill>
                <a:srgbClr val="E05C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D30-2F4C-B8E3-C29BC52C5666}"/>
              </c:ext>
            </c:extLst>
          </c:dPt>
          <c:dPt>
            <c:idx val="8"/>
            <c:invertIfNegative val="0"/>
            <c:bubble3D val="0"/>
            <c:spPr>
              <a:solidFill>
                <a:srgbClr val="E05C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D30-2F4C-B8E3-C29BC52C5666}"/>
              </c:ext>
            </c:extLst>
          </c:dPt>
          <c:dPt>
            <c:idx val="9"/>
            <c:invertIfNegative val="0"/>
            <c:bubble3D val="0"/>
            <c:spPr>
              <a:solidFill>
                <a:srgbClr val="E05C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7D30-2F4C-B8E3-C29BC52C5666}"/>
              </c:ext>
            </c:extLst>
          </c:dPt>
          <c:dPt>
            <c:idx val="10"/>
            <c:invertIfNegative val="0"/>
            <c:bubble3D val="0"/>
            <c:spPr>
              <a:solidFill>
                <a:srgbClr val="E05C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7D30-2F4C-B8E3-C29BC52C566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Info Tech</c:v>
                </c:pt>
                <c:pt idx="1">
                  <c:v>Industrials</c:v>
                </c:pt>
                <c:pt idx="2">
                  <c:v>Cons Staples</c:v>
                </c:pt>
                <c:pt idx="3">
                  <c:v>Comm Svc</c:v>
                </c:pt>
                <c:pt idx="4">
                  <c:v>Materials</c:v>
                </c:pt>
                <c:pt idx="5">
                  <c:v>Cons Disc</c:v>
                </c:pt>
                <c:pt idx="6">
                  <c:v>Real Est</c:v>
                </c:pt>
                <c:pt idx="7">
                  <c:v>Utilities</c:v>
                </c:pt>
                <c:pt idx="8">
                  <c:v>Energy</c:v>
                </c:pt>
                <c:pt idx="9">
                  <c:v>Health</c:v>
                </c:pt>
                <c:pt idx="10">
                  <c:v>Financials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0.38600000000000001</c:v>
                </c:pt>
                <c:pt idx="1">
                  <c:v>0.11799999999999999</c:v>
                </c:pt>
                <c:pt idx="2">
                  <c:v>6.8000000000000005E-2</c:v>
                </c:pt>
                <c:pt idx="3">
                  <c:v>5.8000000000000003E-2</c:v>
                </c:pt>
                <c:pt idx="4">
                  <c:v>4.7E-2</c:v>
                </c:pt>
                <c:pt idx="5">
                  <c:v>2.5000000000000001E-2</c:v>
                </c:pt>
                <c:pt idx="6">
                  <c:v>1.4999999999999999E-2</c:v>
                </c:pt>
                <c:pt idx="7">
                  <c:v>-5.0000000000000001E-3</c:v>
                </c:pt>
                <c:pt idx="8">
                  <c:v>-8.9999999999999993E-3</c:v>
                </c:pt>
                <c:pt idx="9">
                  <c:v>-1.7000000000000001E-2</c:v>
                </c:pt>
                <c:pt idx="10">
                  <c:v>-2.1000000000000001E-2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7D30-2F4C-B8E3-C29BC52C56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FC2"/>
                </a:solidFill>
                <a:latin typeface="Arial"/>
              </a:defRPr>
            </a:pPr>
            <a:endParaRPr lang="de-D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de-CH" sz="1300" b="0" i="0" u="none" strike="noStrike">
                <a:solidFill>
                  <a:srgbClr val="0D1B2A"/>
                </a:solidFill>
                <a:latin typeface="Arial"/>
              </a:rPr>
              <a:t>Ridge |Coefficient|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Ridge |Coef|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excess_ret_5d</c:v>
                </c:pt>
                <c:pt idx="1">
                  <c:v>vol_21d_cs_z</c:v>
                </c:pt>
                <c:pt idx="2">
                  <c:v>vol_21d</c:v>
                </c:pt>
                <c:pt idx="3">
                  <c:v>vol_63d</c:v>
                </c:pt>
                <c:pt idx="4">
                  <c:v>ret_5d_rank</c:v>
                </c:pt>
                <c:pt idx="5">
                  <c:v>ret_63d_rank</c:v>
                </c:pt>
                <c:pt idx="6">
                  <c:v>price_sma21_cs_z</c:v>
                </c:pt>
                <c:pt idx="7">
                  <c:v>vol_21d_rank</c:v>
                </c:pt>
                <c:pt idx="8">
                  <c:v>ret_21d_rank</c:v>
                </c:pt>
                <c:pt idx="9">
                  <c:v>ret_5d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6.1899999999999997E-2</c:v>
                </c:pt>
                <c:pt idx="1">
                  <c:v>3.6900000000000002E-2</c:v>
                </c:pt>
                <c:pt idx="2">
                  <c:v>2.7699999999999999E-2</c:v>
                </c:pt>
                <c:pt idx="3">
                  <c:v>2.64E-2</c:v>
                </c:pt>
                <c:pt idx="4">
                  <c:v>2.0899999999999998E-2</c:v>
                </c:pt>
                <c:pt idx="5">
                  <c:v>1.9E-2</c:v>
                </c:pt>
                <c:pt idx="6">
                  <c:v>1.8100000000000002E-2</c:v>
                </c:pt>
                <c:pt idx="7">
                  <c:v>1.7899999999999999E-2</c:v>
                </c:pt>
                <c:pt idx="8">
                  <c:v>1.7299999999999999E-2</c:v>
                </c:pt>
                <c:pt idx="9">
                  <c:v>1.6299999999999999E-2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BF-EE4C-97A4-6E90121A39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FC2"/>
                </a:solidFill>
                <a:latin typeface="Arial"/>
              </a:defRPr>
            </a:pPr>
            <a:endParaRPr lang="de-D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de-CH" sz="1300" b="0" i="0" u="none" strike="noStrike">
                <a:solidFill>
                  <a:srgbClr val="0D1B2A"/>
                </a:solidFill>
                <a:latin typeface="Arial"/>
              </a:rPr>
              <a:t>XGBoost Permutation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Tree Permutation</c:v>
                </c:pt>
              </c:strCache>
            </c:strRef>
          </c:tx>
          <c:spPr>
            <a:solidFill>
              <a:srgbClr val="5E548E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vol_21d_rank</c:v>
                </c:pt>
                <c:pt idx="1">
                  <c:v>vol_21d_cs_z</c:v>
                </c:pt>
                <c:pt idx="2">
                  <c:v>ret_63d</c:v>
                </c:pt>
                <c:pt idx="3">
                  <c:v>sma63_cs_z</c:v>
                </c:pt>
                <c:pt idx="4">
                  <c:v>ret_63d_rank</c:v>
                </c:pt>
                <c:pt idx="5">
                  <c:v>ret_21d_rank</c:v>
                </c:pt>
                <c:pt idx="6">
                  <c:v>vol_63d</c:v>
                </c:pt>
                <c:pt idx="7">
                  <c:v>vol_5d</c:v>
                </c:pt>
                <c:pt idx="8">
                  <c:v>ret_5d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2.76E-2</c:v>
                </c:pt>
                <c:pt idx="1">
                  <c:v>2.3699999999999999E-2</c:v>
                </c:pt>
                <c:pt idx="2">
                  <c:v>5.0000000000000001E-3</c:v>
                </c:pt>
                <c:pt idx="3">
                  <c:v>4.5999999999999999E-3</c:v>
                </c:pt>
                <c:pt idx="4">
                  <c:v>2.8999999999999998E-3</c:v>
                </c:pt>
                <c:pt idx="5">
                  <c:v>1.9E-3</c:v>
                </c:pt>
                <c:pt idx="6">
                  <c:v>1.4E-3</c:v>
                </c:pt>
                <c:pt idx="7">
                  <c:v>1.2999999999999999E-3</c:v>
                </c:pt>
                <c:pt idx="8">
                  <c:v>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04-A346-BB1C-9898169CFE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454F"/>
                </a:solidFill>
                <a:latin typeface="Arial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FC2"/>
                </a:solidFill>
                <a:latin typeface="Arial"/>
              </a:defRPr>
            </a:pPr>
            <a:endParaRPr lang="de-D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1749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B6CA8">
              <a:alpha val="25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680960" y="3108960"/>
            <a:ext cx="2011680" cy="2011680"/>
          </a:xfrm>
          <a:prstGeom prst="ellipse">
            <a:avLst/>
          </a:prstGeom>
          <a:solidFill>
            <a:srgbClr val="00C2CB">
              <a:alpha val="18000"/>
            </a:srgbClr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5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MODEL WITH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CNN-LSTM-Attention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Backtesting &amp; Alpha Signal Generation on S&amp;P 500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5029200" cy="22860"/>
          </a:xfrm>
          <a:prstGeom prst="rect">
            <a:avLst/>
          </a:prstGeom>
          <a:solidFill>
            <a:srgbClr val="8EAFC2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11480" y="3200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ELENE 4904 — Statistical Learning in Quantitative Trading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EAFC2"/>
                </a:solidFill>
              </a:rPr>
              <a:t>Group 9  |  April 28,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804672"/>
          </a:xfrm>
          <a:prstGeom prst="rect">
            <a:avLst/>
          </a:prstGeom>
          <a:solidFill>
            <a:srgbClr val="E8F4F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502920" cy="80467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9418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Motivation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alpha factors? Why deep learning on equities?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502920" cy="80467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20040" y="18288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8562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Feature Engineering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1762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universe · 24 alpha features · cross-sectional normalization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4206240" cy="804672"/>
          </a:xfrm>
          <a:prstGeom prst="rect">
            <a:avLst/>
          </a:prstGeom>
          <a:solidFill>
            <a:srgbClr val="E8F4F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502920" cy="80467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20040" y="27432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7706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Architecture: CNN-LSTM-Attention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657600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20040" y="3657600"/>
            <a:ext cx="502920" cy="80467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20040" y="36576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6850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Baselines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0050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· XGBoost · momentum · mean reversion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3480" y="914400"/>
            <a:ext cx="3840480" cy="804672"/>
          </a:xfrm>
          <a:prstGeom prst="rect">
            <a:avLst/>
          </a:prstGeom>
          <a:solidFill>
            <a:srgbClr val="E8F4F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983480" y="914400"/>
            <a:ext cx="502920" cy="80467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983480" y="9144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77840" y="9418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Framework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0" y="12618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Long-short construction · risk budgeting · transaction costs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83480" y="1874520"/>
            <a:ext cx="3840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983480" y="1874520"/>
            <a:ext cx="502920" cy="80467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983480" y="18745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77840" y="19019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&amp; Results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22219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· trade · risk/exposure metrics · IC analysis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83480" y="2834640"/>
            <a:ext cx="3840480" cy="804672"/>
          </a:xfrm>
          <a:prstGeom prst="rect">
            <a:avLst/>
          </a:prstGeom>
          <a:solidFill>
            <a:srgbClr val="E8F4F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983480" y="2834640"/>
            <a:ext cx="502920" cy="804672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983480" y="28346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577840" y="28620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Studies &amp; Improvements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77840" y="318211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weaknesses · proposed enhancements</a:t>
            </a:r>
            <a:endParaRPr lang="en-US" sz="100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C6744AC0-D3C1-0CDF-C1A5-198B5E40F844}"/>
              </a:ext>
            </a:extLst>
          </p:cNvPr>
          <p:cNvSpPr/>
          <p:nvPr/>
        </p:nvSpPr>
        <p:spPr>
          <a:xfrm>
            <a:off x="914400" y="31729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theory – CNN-LSTM rationale – architecture walkthrough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Motivation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Alpha Generation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are informationally competitive — pure price prediction is near-impossible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alpha: rank stocks by expected relative return, not absolute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factors (momentum, value) have decayed — ML can discover non-linear combinations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overfitting, lookahead bias, transaction costs erode edge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E8F4F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496 S&amp;P 500 stocks, 10+ years of data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engineered alpha features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CNN-LSTM-Attention neural network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long-short portfolio backtest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budgeting + transaction cost model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Ridge, XGBoost, Momentum, Mean Reversion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3977640"/>
            <a:ext cx="1828800" cy="82296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20040" y="4050792"/>
            <a:ext cx="1828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" y="4454957"/>
            <a:ext cx="18288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in Universe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3977640"/>
            <a:ext cx="182880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377440" y="4050792"/>
            <a:ext cx="1828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377440" y="4454957"/>
            <a:ext cx="18288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3977640"/>
            <a:ext cx="1828800" cy="822960"/>
          </a:xfrm>
          <a:prstGeom prst="rect">
            <a:avLst/>
          </a:prstGeom>
          <a:solidFill>
            <a:srgbClr val="00C2CB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434840" y="4050792"/>
            <a:ext cx="18288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434840" y="4454957"/>
            <a:ext cx="18288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3977640"/>
            <a:ext cx="2286000" cy="82296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92240" y="4050792"/>
            <a:ext cx="2286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~1.1M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92240" y="4454957"/>
            <a:ext cx="22860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Sequences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Feature Engineering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011680" cy="50292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ret_1d, ret_5d, ret_10d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ret_21d, ret_63d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excess_ret_1d/5d vs SPY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ret_5d/21d/63d cross-rank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2011680" cy="50292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468880" y="914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150876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vol_5d, vol_21d, vol_63d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vol_21d cross-sectional z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vol_21d_rank (percentile)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beta_63 vs SPY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617720" y="914400"/>
            <a:ext cx="2011680" cy="502920"/>
          </a:xfrm>
          <a:prstGeom prst="rect">
            <a:avLst/>
          </a:prstGeom>
          <a:solidFill>
            <a:srgbClr val="5E548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617720" y="914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Technical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150876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price_to_sma_10/21/63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z-score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daily_range, close_position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close_open_ret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91440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766560" y="914400"/>
            <a:ext cx="2011680" cy="50292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766560" y="914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/ Liquidity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150876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volume_chg_1d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volume_to_sma_21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dollar_volume_to_sma_21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dollar_volume_sma_21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407408"/>
            <a:ext cx="8503920" cy="621792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02920" y="44622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Target: </a:t>
            </a:r>
            <a:r>
              <a:rPr lang="en-US" sz="1300" dirty="0">
                <a:solidFill>
                  <a:srgbClr val="0D1B2A"/>
                </a:solidFill>
              </a:rPr>
              <a:t>5-day forward return with 1-day execution lag  |  </a:t>
            </a:r>
            <a:r>
              <a:rPr lang="en-US" sz="1300" b="1" dirty="0">
                <a:solidFill>
                  <a:srgbClr val="0D1B2A"/>
                </a:solidFill>
              </a:rPr>
              <a:t>Normalization: </a:t>
            </a:r>
            <a:r>
              <a:rPr lang="en-US" sz="1300" dirty="0">
                <a:solidFill>
                  <a:srgbClr val="0D1B2A"/>
                </a:solidFill>
              </a:rPr>
              <a:t>StandardScaler fit on train set only · Cross-sectional z-score at each date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18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Architecture: CNN-LSTM-Attention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463040" cy="1691640"/>
          </a:xfrm>
          <a:prstGeom prst="rect">
            <a:avLst/>
          </a:prstGeom>
          <a:solidFill>
            <a:srgbClr val="8EAFC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2860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× 24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(lookback × features)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09928" y="1755648"/>
            <a:ext cx="256032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947672" y="1673352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CB"/>
                </a:solidFill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83080" y="960120"/>
            <a:ext cx="1463040" cy="169164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78308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148132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filters, kernel=3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LayerNorm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64408" y="1755648"/>
            <a:ext cx="256032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502152" y="1673352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CB"/>
                </a:solidFill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960120"/>
            <a:ext cx="1463040" cy="1691640"/>
          </a:xfrm>
          <a:prstGeom prst="rect">
            <a:avLst/>
          </a:prstGeom>
          <a:solidFill>
            <a:srgbClr val="5E548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33756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148132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units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return_sequences=True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18888" y="1755648"/>
            <a:ext cx="256032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056632" y="1673352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CB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92040" y="960120"/>
            <a:ext cx="1463040" cy="169164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89204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148132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Dense(1) + tanh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weights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73368" y="1755648"/>
            <a:ext cx="256032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611112" y="1673352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CB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46520" y="960120"/>
            <a:ext cx="1463040" cy="1691640"/>
          </a:xfrm>
          <a:prstGeom prst="rect">
            <a:avLst/>
          </a:prstGeom>
          <a:solidFill>
            <a:srgbClr val="8B5E3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4652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148132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units, Swish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63256" y="1755648"/>
            <a:ext cx="256032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836408" y="1673352"/>
            <a:ext cx="109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CB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82127" y="960120"/>
            <a:ext cx="1097280" cy="169164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909560" y="1005840"/>
            <a:ext cx="1042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09560" y="1481328"/>
            <a:ext cx="1042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(predicted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score)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74320" y="3246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◈ </a:t>
            </a:r>
            <a:r>
              <a:rPr lang="en-US" sz="1300" dirty="0">
                <a:solidFill>
                  <a:srgbClr val="FFFFFF"/>
                </a:solidFill>
              </a:rPr>
              <a:t>Conv1D captures local short-term patterns in the 60-day sequence (momentum pulses, volatility regimes)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74320" y="359359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◈ </a:t>
            </a:r>
            <a:r>
              <a:rPr lang="en-US" sz="1300" dirty="0">
                <a:solidFill>
                  <a:srgbClr val="FFFFFF"/>
                </a:solidFill>
              </a:rPr>
              <a:t>LSTM retains long-range temporal dependencies — remembers context from weeks ago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74320" y="394106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◈ </a:t>
            </a:r>
            <a:r>
              <a:rPr lang="en-US" sz="1300" dirty="0">
                <a:solidFill>
                  <a:srgbClr val="FFFFFF"/>
                </a:solidFill>
              </a:rPr>
              <a:t>Attention mechanism weights each time step differently, highlighting the most predictive days in the lookback window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74320" y="428853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◈ </a:t>
            </a:r>
            <a:r>
              <a:rPr lang="en-US" sz="1300" dirty="0">
                <a:solidFill>
                  <a:srgbClr val="FFFFFF"/>
                </a:solidFill>
              </a:rPr>
              <a:t>Huber loss (δ-insensitive) reduces sensitivity to outlier return observations common in equity data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74320" y="46360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</a:rPr>
              <a:t>◈ </a:t>
            </a:r>
            <a:r>
              <a:rPr lang="en-US" sz="1300" dirty="0">
                <a:solidFill>
                  <a:srgbClr val="FFFFFF"/>
                </a:solidFill>
              </a:rPr>
              <a:t>Adam optimizer (lr=0.0005) + EarlyStopping (patience=5) prevents overfitting to train set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7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CACC"/>
                </a:solidFill>
              </a:rPr>
              <a:t>LSTM &amp; CNN-LSTM Theory — Why It Fits This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60120"/>
            <a:ext cx="3886200" cy="3383280"/>
          </a:xfrm>
          <a:prstGeom prst="roundRect">
            <a:avLst/>
          </a:prstGeom>
          <a:solidFill>
            <a:srgbClr val="F0F7FB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C71AD"/>
                </a:solidFill>
              </a:rPr>
              <a:t>What an LSTM Adds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429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02D37"/>
                </a:solidFill>
              </a:defRPr>
            </a:pPr>
            <a:r>
              <a:t>Memory cell: keeps useful information across many trading days</a:t>
            </a:r>
          </a:p>
          <a:p>
            <a:pPr>
              <a:defRPr sz="1300">
                <a:solidFill>
                  <a:srgbClr val="202D37"/>
                </a:solidFill>
              </a:defRPr>
            </a:pPr>
            <a:r>
              <a:t>Input / forget gates: decide what new signals to store and what stale signals to drop</a:t>
            </a:r>
          </a:p>
          <a:p>
            <a:pPr>
              <a:defRPr sz="1300">
                <a:solidFill>
                  <a:srgbClr val="202D37"/>
                </a:solidFill>
              </a:defRPr>
            </a:pPr>
            <a:r>
              <a:t>Output gate: translates the hidden state into today’s alpha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594360" cy="320040"/>
          </a:xfrm>
          <a:prstGeom prst="round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xₜ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3877056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A6973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3840480"/>
            <a:ext cx="594360" cy="320040"/>
          </a:xfrm>
          <a:prstGeom prst="round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3877056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A6973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5999" y="3840480"/>
            <a:ext cx="594360" cy="320040"/>
          </a:xfrm>
          <a:prstGeom prst="round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cₜ / hₜ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3877056"/>
            <a:ext cx="2011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A6973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3840480"/>
            <a:ext cx="594360" cy="320040"/>
          </a:xfrm>
          <a:prstGeom prst="roundRect">
            <a:avLst/>
          </a:prstGeom>
          <a:solidFill>
            <a:srgbClr val="00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960120"/>
            <a:ext cx="4160520" cy="3383280"/>
          </a:xfrm>
          <a:prstGeom prst="roundRect">
            <a:avLst/>
          </a:prstGeom>
          <a:solidFill>
            <a:srgbClr val="071623"/>
          </a:solidFill>
          <a:ln>
            <a:solidFill>
              <a:srgbClr val="1E4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1143000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CACC"/>
                </a:solidFill>
              </a:rPr>
              <a:t>Why CNN + LSTM + Attention?</a:t>
            </a:r>
          </a:p>
        </p:txBody>
      </p:sp>
      <p:sp>
        <p:nvSpPr>
          <p:cNvPr id="17" name="Oval 16"/>
          <p:cNvSpPr/>
          <p:nvPr/>
        </p:nvSpPr>
        <p:spPr>
          <a:xfrm>
            <a:off x="4800600" y="1700784"/>
            <a:ext cx="329184" cy="329184"/>
          </a:xfrm>
          <a:prstGeom prst="ellipse">
            <a:avLst/>
          </a:prstGeom>
          <a:solidFill>
            <a:srgbClr val="00C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1673352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Conv1D: </a:t>
            </a:r>
            <a:r>
              <a:rPr sz="1200">
                <a:solidFill>
                  <a:srgbClr val="D2E1E8"/>
                </a:solidFill>
              </a:rPr>
              <a:t>detects local motifs: price bursts, volatility spikes, reversal patterns</a:t>
            </a:r>
          </a:p>
        </p:txBody>
      </p:sp>
      <p:sp>
        <p:nvSpPr>
          <p:cNvPr id="19" name="Oval 18"/>
          <p:cNvSpPr/>
          <p:nvPr/>
        </p:nvSpPr>
        <p:spPr>
          <a:xfrm>
            <a:off x="4800600" y="2505456"/>
            <a:ext cx="329184" cy="329184"/>
          </a:xfrm>
          <a:prstGeom prst="ellipse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7800" y="2478024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LSTM: </a:t>
            </a:r>
            <a:r>
              <a:rPr sz="1200">
                <a:solidFill>
                  <a:srgbClr val="D2E1E8"/>
                </a:solidFill>
              </a:rPr>
              <a:t>models how those motifs persist or fade through the 60-day window</a:t>
            </a:r>
          </a:p>
        </p:txBody>
      </p:sp>
      <p:sp>
        <p:nvSpPr>
          <p:cNvPr id="21" name="Oval 20"/>
          <p:cNvSpPr/>
          <p:nvPr/>
        </p:nvSpPr>
        <p:spPr>
          <a:xfrm>
            <a:off x="4800600" y="3310128"/>
            <a:ext cx="329184" cy="329184"/>
          </a:xfrm>
          <a:prstGeom prst="ellipse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57800" y="3282696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Attention: </a:t>
            </a:r>
            <a:r>
              <a:rPr sz="1200">
                <a:solidFill>
                  <a:srgbClr val="D2E1E8"/>
                </a:solidFill>
              </a:rPr>
              <a:t>lets the model focus on the most relevant days instead of treating all days equally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34840"/>
            <a:ext cx="8321040" cy="43891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498848"/>
            <a:ext cx="79552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42D37"/>
                </a:solidFill>
              </a:rPr>
              <a:t>Fit for this project: equity alpha is sequential, noisy, non-linear, and regime-dependent — exactly the setting where sequence models can improve on one-day tabular regressions.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 &amp; Baseline Models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749040" cy="54864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2527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2014 – Dec 2020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773,072 sequences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960120"/>
            <a:ext cx="2103120" cy="548640"/>
          </a:xfrm>
          <a:prstGeom prst="rect">
            <a:avLst/>
          </a:prstGeom>
          <a:solidFill>
            <a:srgbClr val="5E548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114800" y="9875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1252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2021 – Dec 2022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218,521 sequences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960120"/>
            <a:ext cx="2560320" cy="54864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309360" y="987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(OOS)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2527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Apr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379,241 sequences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 Compared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3931920" cy="548640"/>
          </a:xfrm>
          <a:prstGeom prst="rect">
            <a:avLst/>
          </a:prstGeom>
          <a:solidFill>
            <a:srgbClr val="E8F4FD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54864" cy="54864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11480" y="2423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24323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α=10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6700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(last timestep only) · linear baseline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99232"/>
            <a:ext cx="3931920" cy="548640"/>
          </a:xfrm>
          <a:prstGeom prst="rect">
            <a:avLst/>
          </a:prstGeom>
          <a:solidFill>
            <a:srgbClr val="E8F4FD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274320" y="2999232"/>
            <a:ext cx="54864" cy="54864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11480" y="3044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HistGBR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51760" y="30540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291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 on tabular features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621024"/>
            <a:ext cx="3931920" cy="548640"/>
          </a:xfrm>
          <a:prstGeom prst="rect">
            <a:avLst/>
          </a:prstGeom>
          <a:solidFill>
            <a:srgbClr val="E8F4FD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274320" y="3621024"/>
            <a:ext cx="54864" cy="54864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11480" y="3666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51760" y="36758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21d ret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39136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past winners — classical factor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242816"/>
            <a:ext cx="3931920" cy="548640"/>
          </a:xfrm>
          <a:prstGeom prst="rect">
            <a:avLst/>
          </a:prstGeom>
          <a:solidFill>
            <a:srgbClr val="E8F4FD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274320" y="4242816"/>
            <a:ext cx="54864" cy="548640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11480" y="42885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Reversion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651760" y="42976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−5d ret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45354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past losers — contrarian factor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Training Details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72000" y="233172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30 max (early stop at epoch 6, best: epoch 1)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512  ·  Optimizer: Adam (lr=0.0005)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Huber  ·  EarlyStopping patience=5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went from 0.356 → 0.340 (epoch 6)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loss: 0.372 at epoch 1 (best) — overfits quickly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shape: (batch, 60 timesteps, 24 features)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IC Diagnostics — Signal Quality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IC = Spearman correlation between predicted and realized 5-day returns, computed cross-sectionally each day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25880"/>
          <a:ext cx="8595360" cy="17373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CNN-LSTM-Attn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Ridge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XGBoost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Momentum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 Rev.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</a:rPr>
                        <a:t>Mean Rank IC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C896"/>
                          </a:solidFill>
                        </a:rPr>
                        <a:t>0.0362 ★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0.0109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0.0223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−0.0004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0.0006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</a:rPr>
                        <a:t>IC Std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6CA8"/>
                          </a:solidFill>
                        </a:rPr>
                        <a:t>0.1831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0.1812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0.1542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0.1792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0.1683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</a:rPr>
                        <a:t>IC t-stat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C896"/>
                          </a:solidFill>
                        </a:rPr>
                        <a:t>5.46 ★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1.66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4.00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−0.06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0.10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</a:rPr>
                        <a:t>Positive IC 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C896"/>
                          </a:solidFill>
                        </a:rPr>
                        <a:t>57.0% ★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51.2%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54.1%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51.6%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47.4%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</a:rPr>
                        <a:t>IC Count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6CA8"/>
                          </a:solidFill>
                        </a:rPr>
                        <a:t>765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765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765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825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825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" y="36118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 sz="1100"/>
            </a:pPr>
            <a:r>
              <a:t>CNN-LSTM has the strongest ranking signal in the test period: IC t-stat 5.46</a:t>
            </a:r>
          </a:p>
          <a:p>
            <a:pPr>
              <a:defRPr sz="1100"/>
            </a:pPr>
            <a:r>
              <a:t>Ridge is marginal; XGBoost is solid, indicating non-linear structure in the features</a:t>
            </a:r>
          </a:p>
          <a:p>
            <a:pPr>
              <a:defRPr sz="1100"/>
            </a:pPr>
            <a:r>
              <a:t>Momentum and mean reversion are near zero in this setup</a:t>
            </a:r>
          </a:p>
          <a:p>
            <a:pPr>
              <a:defRPr sz="1100"/>
            </a:pPr>
            <a:r>
              <a:t>Important: Rank IC measures cross-sectional signal quality, not pure portfolio alpha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Framework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11480" y="1179576"/>
            <a:ext cx="548640" cy="548640"/>
          </a:xfrm>
          <a:prstGeom prst="ellipse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11480" y="1179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Generation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8074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5-day alpha score for every stock each rebalance 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11480" y="2505456"/>
            <a:ext cx="548640" cy="548640"/>
          </a:xfrm>
          <a:prstGeom prst="ellipse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11480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359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Selection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70662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Long: top 10% by predicted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Short: bottom 10% by predicted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61188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11480" y="3831336"/>
            <a:ext cx="548640" cy="548640"/>
          </a:xfrm>
          <a:prstGeom prst="ellipse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11480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6850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Risk-Weighted Sizing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03250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= 1 / vol_21d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at MAX_POSITION = 8% per stock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96012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846320" y="1179576"/>
            <a:ext cx="548640" cy="548640"/>
          </a:xfrm>
          <a:prstGeom prst="ellipse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846320" y="1179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1033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138074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900"/>
            </a:pPr>
            <a:r>
              <a:t>Iterative capping-and-renormalization</a:t>
            </a:r>
          </a:p>
          <a:p>
            <a:pPr>
              <a:defRPr sz="900"/>
            </a:pPr>
            <a:r>
              <a:t>Dollar-balanced, but beta still monitored</a:t>
            </a:r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846320" y="2505456"/>
            <a:ext cx="548640" cy="548640"/>
          </a:xfrm>
          <a:prstGeom prst="ellipse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846320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2120" y="2359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Costs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270662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 one-way on all weight changes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every 5 trading days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846320" y="3831336"/>
            <a:ext cx="548640" cy="548640"/>
          </a:xfrm>
          <a:prstGeom prst="ellipse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846320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32120" y="36850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Attribution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403250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stock contribution tracked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Sector, beta, long/short decomposition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Portfolio Evolution (2023–2026)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3657600"/>
            <a:ext cx="1920240" cy="804672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320040" y="3730752"/>
            <a:ext cx="19202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+40.0%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20040" y="4124310"/>
            <a:ext cx="192024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 (CNN-LSTM)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77440" y="3657600"/>
            <a:ext cx="1920240" cy="804672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2377440" y="3730752"/>
            <a:ext cx="19202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2377440" y="4124310"/>
            <a:ext cx="192024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Return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34840" y="3657600"/>
            <a:ext cx="1920240" cy="804672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434840" y="3730752"/>
            <a:ext cx="192024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434840" y="4124310"/>
            <a:ext cx="192024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92240" y="3657600"/>
            <a:ext cx="2331720" cy="804672"/>
          </a:xfrm>
          <a:prstGeom prst="rect">
            <a:avLst/>
          </a:prstGeom>
          <a:solidFill>
            <a:srgbClr val="00C2CB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92240" y="3730752"/>
            <a:ext cx="23317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weak baselines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492240" y="4124310"/>
            <a:ext cx="23317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Underperform</a:t>
            </a:r>
            <a:endParaRPr lang="en-US" sz="1100" dirty="0"/>
          </a:p>
        </p:txBody>
      </p:sp>
      <p:pic>
        <p:nvPicPr>
          <p:cNvPr id="17" name="Picture 16" descr="p1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14400"/>
            <a:ext cx="777240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/ Short Book Decomposition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406908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/>
            </a:pPr>
            <a:r>
              <a:t>Long book is the main return driver, especially during the 2025 growth/technology rally. The short book is less consistent, so the result should be interpreted as a strong ranking signal with room for better beta and sector control.</a:t>
            </a:r>
          </a:p>
        </p:txBody>
      </p:sp>
      <p:pic>
        <p:nvPicPr>
          <p:cNvPr id="7" name="Picture 6" descr="p1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14400"/>
            <a:ext cx="7955279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&amp; Rolling Sharpe Ratio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274320" y="4572000"/>
            <a:ext cx="2286000" cy="411480"/>
          </a:xfrm>
          <a:prstGeom prst="rect">
            <a:avLst/>
          </a:prstGeom>
          <a:solidFill>
            <a:srgbClr val="E05C5C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274320" y="4114800"/>
            <a:ext cx="22860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−18.7%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274320" y="4114800"/>
            <a:ext cx="22860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743200" y="4572000"/>
            <a:ext cx="2286000" cy="411480"/>
          </a:xfrm>
          <a:prstGeom prst="rect">
            <a:avLst/>
          </a:prstGeom>
          <a:solidFill>
            <a:srgbClr val="8B5E3C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2743200" y="4114800"/>
            <a:ext cx="22860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days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2743200" y="4114800"/>
            <a:ext cx="22860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Period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212080" y="4572000"/>
            <a:ext cx="1828800" cy="41148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5212080" y="4114800"/>
            <a:ext cx="18288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5212080" y="4114800"/>
            <a:ext cx="18288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 Ratio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223760" y="4572000"/>
            <a:ext cx="1600200" cy="4114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7223760" y="4114800"/>
            <a:ext cx="16002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7223760" y="4114800"/>
            <a:ext cx="1600200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Ratio</a:t>
            </a:r>
            <a:endParaRPr lang="en-US" sz="1100" dirty="0"/>
          </a:p>
        </p:txBody>
      </p:sp>
      <p:pic>
        <p:nvPicPr>
          <p:cNvPr id="18" name="Picture 17" descr="p2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68680"/>
            <a:ext cx="3886200" cy="2057400"/>
          </a:xfrm>
          <a:prstGeom prst="rect">
            <a:avLst/>
          </a:prstGeom>
        </p:spPr>
      </p:pic>
      <p:pic>
        <p:nvPicPr>
          <p:cNvPr id="19" name="Picture 18" descr="p29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868680"/>
            <a:ext cx="3886200" cy="20574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28600" y="3611880"/>
            <a:ext cx="86868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840480"/>
            <a:ext cx="2148840" cy="685800"/>
          </a:xfrm>
          <a:prstGeom prst="rect">
            <a:avLst/>
          </a:prstGeom>
          <a:solidFill>
            <a:srgbClr val="E2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913632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−18.7%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233672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</a:rPr>
              <a:t>Max Drawdown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3840480"/>
            <a:ext cx="2148840" cy="685800"/>
          </a:xfrm>
          <a:prstGeom prst="rect">
            <a:avLst/>
          </a:prstGeom>
          <a:solidFill>
            <a:srgbClr val="976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97480" y="3913632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248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233672"/>
            <a:ext cx="2148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</a:rPr>
              <a:t>Recovery Period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3840480"/>
            <a:ext cx="1737360" cy="685800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74920" y="3913632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0.63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233672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</a:rPr>
              <a:t>Calmar Ratio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3840480"/>
            <a:ext cx="1737360" cy="685800"/>
          </a:xfrm>
          <a:prstGeom prst="rect">
            <a:avLst/>
          </a:prstGeom>
          <a:solidFill>
            <a:srgbClr val="07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86600" y="3913632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1.17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233672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</a:rPr>
              <a:t>Sortino Ratio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Performance Metrics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Period Metrics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2834640" cy="356615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Total Return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40.0%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Ann. Return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11.7%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Ann. Volatility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19.3%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Sharpe Ratio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0.67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Sortino Ratio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1.17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Max Drawdown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−18.7%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Calmar Ratio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0.63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Skewness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0.89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Excess Kurtosis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4.39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Ulcer Index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0.059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4612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Trade Metrics</a:t>
            </a:r>
            <a:endParaRPr lang="en-US" sz="14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1261872"/>
          <a:ext cx="2743200" cy="29260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# Trades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3,478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Win Rate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54.9%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Avg Win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+0.163%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Avg Loss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−0.156%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Win / |Loss|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1.045x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Profit Factor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1.271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Avg Hold (days)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29.8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Avg Turnover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1.77x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126480" y="914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Risk / Exposure</a:t>
            </a:r>
            <a:endParaRPr lang="en-US" sz="14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261872"/>
          <a:ext cx="2743200" cy="32461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Gross 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2.0x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Net 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≈ 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Net Beta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0.519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HHI Conc.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0.021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Top-5 Share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19.8%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Ann. Alpha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13.2%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Track. Error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23.4%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VaR 95%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−3.65%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CVaR 95%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6CA8"/>
                          </a:solidFill>
                        </a:rPr>
                        <a:t>−5.10%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Returns Heatmap &amp; Distribution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6858000" y="868680"/>
            <a:ext cx="2011680" cy="4114800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6903720" y="960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903720" y="1371600"/>
            <a:ext cx="1920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defRPr sz="1100"/>
            </a:pPr>
            <a:r>
              <a:t>2025 was the strongest year — Sharpe ≈ 1.28</a:t>
            </a:r>
          </a:p>
          <a:p>
            <a:pPr>
              <a:defRPr sz="1100"/>
            </a:pPr>
            <a:r>
              <a:t>Jan 2026 drawdown was quickly followed by recovery</a:t>
            </a:r>
          </a:p>
          <a:p>
            <a:pPr>
              <a:defRPr sz="1100"/>
            </a:pPr>
            <a:r>
              <a:t>Distribution is positively skewed but fat-tailed</a:t>
            </a:r>
          </a:p>
          <a:p>
            <a:pPr>
              <a:defRPr sz="1100"/>
            </a:pPr>
            <a:r>
              <a:t>Most losses cluster near the 5% VaR line</a:t>
            </a:r>
          </a:p>
        </p:txBody>
      </p:sp>
      <p:pic>
        <p:nvPicPr>
          <p:cNvPr id="9" name="Picture 8" descr="p3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4617720" cy="2011680"/>
          </a:xfrm>
          <a:prstGeom prst="rect">
            <a:avLst/>
          </a:prstGeom>
        </p:spPr>
      </p:pic>
      <p:pic>
        <p:nvPicPr>
          <p:cNvPr id="10" name="Picture 9" descr="p3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71800"/>
            <a:ext cx="429768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Attribution &amp; Top Ticker P&amp;L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45720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0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Held Stocks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298448"/>
          <a:ext cx="3749040" cy="24688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Ticker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Times Held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Cum. PnL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CVNA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137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</a:rPr>
                        <a:t>+1.95%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PLTR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128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</a:rPr>
                        <a:t>+1.65%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APP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124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</a:rPr>
                        <a:t>+1.98%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FIX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106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</a:rPr>
                        <a:t>+4.21%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FSLR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93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</a:rPr>
                        <a:t>+2.80%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MU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80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C896"/>
                          </a:solidFill>
                        </a:rPr>
                        <a:t>+3.31%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MRNA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84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5C5C"/>
                          </a:solidFill>
                        </a:rPr>
                        <a:t>−2.71%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FISV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5C5C"/>
                          </a:solidFill>
                        </a:rPr>
                        <a:t>−3.29%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840480"/>
            <a:ext cx="8595360" cy="65836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457200" y="39136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200"/>
            </a:pPr>
            <a:r>
              <a:t>Key Insight: Information Technology is the largest P&amp;L contributor, but this also reveals sector concentration. A production version should add sector-neutral constraints before claiming pure alpha.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96112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896112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315968"/>
            <a:ext cx="8595360" cy="658368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457200" y="438912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 sz="1200"/>
            </a:pPr>
            <a:r>
              <a:t>Takeaway: Volatility, excess-return, and cross-sectional momentum variables carry most of the signal in the baselines. This supports the idea that the neural model is learning non-linear versions of economically meaningful factors.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Performance &amp; Rank IC Over Time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42976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300" b="1">
                <a:solidFill>
                  <a:srgbClr val="1C71AD"/>
                </a:solidFill>
              </a:rPr>
              <a:t>Annualized portfolio performance by year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74980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anchor="ctr">
                    <a:solidFill>
                      <a:srgbClr val="071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Ann. Return</a:t>
                      </a:r>
                    </a:p>
                  </a:txBody>
                  <a:tcPr anchor="ctr">
                    <a:solidFill>
                      <a:srgbClr val="071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Ann. Vol</a:t>
                      </a:r>
                    </a:p>
                  </a:txBody>
                  <a:tcPr anchor="ctr">
                    <a:solidFill>
                      <a:srgbClr val="071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Sharpe</a:t>
                      </a:r>
                    </a:p>
                  </a:txBody>
                  <a:tcPr anchor="ctr">
                    <a:solidFill>
                      <a:srgbClr val="071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Max DD</a:t>
                      </a:r>
                    </a:p>
                  </a:txBody>
                  <a:tcPr anchor="ctr">
                    <a:solidFill>
                      <a:srgbClr val="0716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Hit Rate</a:t>
                      </a:r>
                    </a:p>
                  </a:txBody>
                  <a:tcPr anchor="ctr">
                    <a:solidFill>
                      <a:srgbClr val="071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81420"/>
                          </a:solidFill>
                        </a:rPr>
                        <a:t>2023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5757"/>
                          </a:solidFill>
                        </a:rPr>
                        <a:t>-0.96%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81420"/>
                          </a:solidFill>
                        </a:rPr>
                        <a:t>12.0%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5757"/>
                          </a:solidFill>
                        </a:rPr>
                        <a:t>-0.08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5757"/>
                          </a:solidFill>
                        </a:rPr>
                        <a:t>-9.1%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81420"/>
                          </a:solidFill>
                        </a:rPr>
                        <a:t>56.4%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81420"/>
                          </a:solidFill>
                        </a:rPr>
                        <a:t>2024</a:t>
                      </a:r>
                    </a:p>
                  </a:txBody>
                  <a:tcPr anchor="ctr">
                    <a:solidFill>
                      <a:srgbClr val="DC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81420"/>
                          </a:solidFill>
                        </a:rPr>
                        <a:t>+5.44%</a:t>
                      </a:r>
                    </a:p>
                  </a:txBody>
                  <a:tcPr anchor="ctr">
                    <a:solidFill>
                      <a:srgbClr val="DC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81420"/>
                          </a:solidFill>
                        </a:rPr>
                        <a:t>16.6%</a:t>
                      </a:r>
                    </a:p>
                  </a:txBody>
                  <a:tcPr anchor="ctr">
                    <a:solidFill>
                      <a:srgbClr val="DC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81420"/>
                          </a:solidFill>
                        </a:rPr>
                        <a:t>0.33</a:t>
                      </a:r>
                    </a:p>
                  </a:txBody>
                  <a:tcPr anchor="ctr">
                    <a:solidFill>
                      <a:srgbClr val="DC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5757"/>
                          </a:solidFill>
                        </a:rPr>
                        <a:t>-18.7%</a:t>
                      </a:r>
                    </a:p>
                  </a:txBody>
                  <a:tcPr anchor="ctr">
                    <a:solidFill>
                      <a:srgbClr val="DC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81420"/>
                          </a:solidFill>
                        </a:rPr>
                        <a:t>44.0%</a:t>
                      </a:r>
                    </a:p>
                  </a:txBody>
                  <a:tcPr anchor="ctr">
                    <a:solidFill>
                      <a:srgbClr val="DC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81420"/>
                          </a:solidFill>
                        </a:rPr>
                        <a:t>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CACC"/>
                          </a:solidFill>
                        </a:rPr>
                        <a:t>+30.5%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81420"/>
                          </a:solidFill>
                        </a:rPr>
                        <a:t>23.9%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CACC"/>
                          </a:solidFill>
                        </a:rPr>
                        <a:t>1.28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5757"/>
                          </a:solidFill>
                        </a:rPr>
                        <a:t>-15.0%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81420"/>
                          </a:solidFill>
                        </a:rPr>
                        <a:t>58.0%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81420"/>
                          </a:solidFill>
                        </a:rPr>
                        <a:t>2026 YTD</a:t>
                      </a:r>
                    </a:p>
                  </a:txBody>
                  <a:tcPr anchor="ctr">
                    <a:solidFill>
                      <a:srgbClr val="DC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81420"/>
                          </a:solidFill>
                        </a:rPr>
                        <a:t>+10.3%</a:t>
                      </a:r>
                    </a:p>
                  </a:txBody>
                  <a:tcPr anchor="ctr">
                    <a:solidFill>
                      <a:srgbClr val="DC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81420"/>
                          </a:solidFill>
                        </a:rPr>
                        <a:t>26.8%</a:t>
                      </a:r>
                    </a:p>
                  </a:txBody>
                  <a:tcPr anchor="ctr">
                    <a:solidFill>
                      <a:srgbClr val="DC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81420"/>
                          </a:solidFill>
                        </a:rPr>
                        <a:t>0.39</a:t>
                      </a:r>
                    </a:p>
                  </a:txBody>
                  <a:tcPr anchor="ctr">
                    <a:solidFill>
                      <a:srgbClr val="DC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25757"/>
                          </a:solidFill>
                        </a:rPr>
                        <a:t>-13.0%</a:t>
                      </a:r>
                    </a:p>
                  </a:txBody>
                  <a:tcPr anchor="ctr">
                    <a:solidFill>
                      <a:srgbClr val="DC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CACC"/>
                          </a:solidFill>
                        </a:rPr>
                        <a:t>64.3%</a:t>
                      </a:r>
                    </a:p>
                  </a:txBody>
                  <a:tcPr anchor="ctr">
                    <a:solidFill>
                      <a:srgbClr val="DC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2852928"/>
            <a:ext cx="56692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r>
              <a:rPr sz="1300" b="1">
                <a:solidFill>
                  <a:srgbClr val="1C71AD"/>
                </a:solidFill>
              </a:rPr>
              <a:t>Rank IC over time: signal quality is persistent but noisy</a:t>
            </a:r>
          </a:p>
        </p:txBody>
      </p:sp>
      <p:pic>
        <p:nvPicPr>
          <p:cNvPr id="8" name="Picture 7" descr="p19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90672"/>
            <a:ext cx="5989320" cy="18836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3081528"/>
            <a:ext cx="1920240" cy="1874519"/>
          </a:xfrm>
          <a:prstGeom prst="roundRect">
            <a:avLst/>
          </a:prstGeom>
          <a:solidFill>
            <a:srgbClr val="F0F7FB"/>
          </a:solidFill>
          <a:ln>
            <a:solidFill>
              <a:srgbClr val="C6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76288" y="3218688"/>
            <a:ext cx="15544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1">
                <a:solidFill>
                  <a:srgbClr val="1C71AD"/>
                </a:solidFill>
              </a:rPr>
              <a:t>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3529584"/>
            <a:ext cx="1572768" cy="12161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19">
                <a:solidFill>
                  <a:srgbClr val="46545F"/>
                </a:solidFill>
              </a:defRPr>
            </a:pPr>
            <a:r>
              <a:t>• 2025 is the strongest year.</a:t>
            </a:r>
          </a:p>
          <a:p>
            <a:pPr>
              <a:defRPr sz="919">
                <a:solidFill>
                  <a:srgbClr val="46545F"/>
                </a:solidFill>
              </a:defRPr>
            </a:pPr>
            <a:r>
              <a:t>• Positive OOS result is not uniform over time.</a:t>
            </a:r>
          </a:p>
          <a:p>
            <a:pPr>
              <a:defRPr sz="919">
                <a:solidFill>
                  <a:srgbClr val="46545F"/>
                </a:solidFill>
              </a:defRPr>
            </a:pPr>
            <a:r>
              <a:t>• Rank IC confirms a real ranking signal, but it still needs risk controls.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18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</a:rPr>
              <a:t>Further Studies &amp; Research Diagnostics</a:t>
            </a:r>
          </a:p>
        </p:txBody>
      </p:sp>
      <p:sp>
        <p:nvSpPr>
          <p:cNvPr id="4" name="Shape 2"/>
          <p:cNvSpPr/>
          <p:nvPr/>
        </p:nvSpPr>
        <p:spPr>
          <a:xfrm>
            <a:off x="228600" y="896112"/>
            <a:ext cx="8686800" cy="749808"/>
          </a:xfrm>
          <a:prstGeom prst="rect">
            <a:avLst/>
          </a:prstGeom>
          <a:solidFill>
            <a:srgbClr val="0D20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28600" y="896112"/>
            <a:ext cx="64008" cy="7498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500" b="1">
                <a:solidFill>
                  <a:srgbClr val="E74C3C"/>
                </a:solidFill>
              </a:defRPr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(Early Stop at Epoch 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16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400" b="0">
                <a:solidFill>
                  <a:srgbClr val="D2E1E8"/>
                </a:solidFill>
              </a:defRPr>
            </a:pPr>
            <a:r>
              <a:rPr lang="en-US" sz="1200" b="0" dirty="0">
                <a:solidFill>
                  <a:srgbClr val="D2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Val loss rises immediately — model generalizes poorly on longer sequences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96926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400" b="0">
                <a:solidFill>
                  <a:srgbClr val="FFFFFF"/>
                </a:solidFill>
              </a:defRPr>
            </a:pPr>
            <a:r>
              <a:rPr lang="en-US" sz="14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Stronger regularization (L2 weight decay, more Dropout), smaller LSTM, reduce lookback from 60→30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719072"/>
            <a:ext cx="8686800" cy="749808"/>
          </a:xfrm>
          <a:prstGeom prst="rect">
            <a:avLst/>
          </a:prstGeom>
          <a:solidFill>
            <a:srgbClr val="0D20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28600" y="1719072"/>
            <a:ext cx="64008" cy="74980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11480" y="1755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500" b="1">
                <a:solidFill>
                  <a:srgbClr val="F58E20"/>
                </a:solidFill>
              </a:defRPr>
            </a:pPr>
            <a:r>
              <a:rPr lang="en-US" sz="1300" b="1" dirty="0">
                <a:solidFill>
                  <a:srgbClr val="F58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Beta ≈ 0.52 (Not Market-Neutral)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039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400" b="0">
                <a:solidFill>
                  <a:srgbClr val="D2E1E8"/>
                </a:solidFill>
              </a:defRPr>
            </a:pPr>
            <a:r>
              <a:rPr lang="en-US" sz="1200" b="0" dirty="0">
                <a:solidFill>
                  <a:srgbClr val="D2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Portfolio carries unintended long-market exposure, especially in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79222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400" b="0">
                <a:solidFill>
                  <a:srgbClr val="FFFFFF"/>
                </a:solidFill>
              </a:defRPr>
            </a:pPr>
            <a:r>
              <a:rPr lang="en-US" sz="14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Explicitly hedge residual beta using SPY futures overlay; add beta_63 constraint to optimizer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542032"/>
            <a:ext cx="8686800" cy="749808"/>
          </a:xfrm>
          <a:prstGeom prst="rect">
            <a:avLst/>
          </a:prstGeom>
          <a:solidFill>
            <a:srgbClr val="0D20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28600" y="2542032"/>
            <a:ext cx="64008" cy="749808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11480" y="2578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500" b="1">
                <a:solidFill>
                  <a:srgbClr val="9B50D2"/>
                </a:solidFill>
              </a:defRPr>
            </a:pPr>
            <a:r>
              <a:rPr lang="en-US" sz="1300" b="1" dirty="0">
                <a:solidFill>
                  <a:srgbClr val="9B5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Information Ratio (−0.28)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2862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600" b="0">
                <a:solidFill>
                  <a:srgbClr val="D2E1E8"/>
                </a:solidFill>
              </a:defRPr>
            </a:pPr>
            <a:r>
              <a:rPr sz="1200" b="0" dirty="0">
                <a:solidFill>
                  <a:srgbClr val="D2E1E8"/>
                </a:solidFill>
              </a:rPr>
              <a:t>⚠ Benchmark-adjusted performance is weaker than raw total return</a:t>
            </a:r>
          </a:p>
        </p:txBody>
      </p:sp>
      <p:sp>
        <p:nvSpPr>
          <p:cNvPr id="18" name="Text 16"/>
          <p:cNvSpPr/>
          <p:nvPr/>
        </p:nvSpPr>
        <p:spPr>
          <a:xfrm>
            <a:off x="4389120" y="261518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400" b="0">
                <a:solidFill>
                  <a:srgbClr val="FFFFFF"/>
                </a:solidFill>
              </a:defRPr>
            </a:pPr>
            <a:r>
              <a:rPr lang="en-US" sz="14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Re-define target as market-residual return (alpha); add macro regime signal (VIX, yield curve) as 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364992"/>
            <a:ext cx="8686800" cy="749808"/>
          </a:xfrm>
          <a:prstGeom prst="rect">
            <a:avLst/>
          </a:prstGeom>
          <a:solidFill>
            <a:srgbClr val="0D20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28600" y="3364992"/>
            <a:ext cx="64008" cy="749808"/>
          </a:xfrm>
          <a:prstGeom prst="rect">
            <a:avLst/>
          </a:prstGeom>
          <a:solidFill>
            <a:srgbClr val="1B6C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11480" y="3401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500" b="1">
                <a:solidFill>
                  <a:srgbClr val="1C71AD"/>
                </a:solidFill>
              </a:defRPr>
            </a:pPr>
            <a:r>
              <a:rPr lang="en-US" sz="1300" b="1" dirty="0">
                <a:solidFill>
                  <a:srgbClr val="1C7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Sector Concentration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685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400" b="0">
                <a:solidFill>
                  <a:srgbClr val="D2E1E8"/>
                </a:solidFill>
              </a:defRPr>
            </a:pPr>
            <a:r>
              <a:rPr lang="en-US" sz="1200" b="0" dirty="0">
                <a:solidFill>
                  <a:srgbClr val="D2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38.6% of PnL from tech alone — sector risk not diversified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0" y="343814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400" b="0">
                <a:solidFill>
                  <a:srgbClr val="FFFFFF"/>
                </a:solidFill>
              </a:defRPr>
            </a:pPr>
            <a:r>
              <a:rPr lang="en-US" sz="14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sector-neutral constraint: enforce equal gross exposure per GICS sector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4187952"/>
            <a:ext cx="8686800" cy="749808"/>
          </a:xfrm>
          <a:prstGeom prst="rect">
            <a:avLst/>
          </a:prstGeom>
          <a:solidFill>
            <a:srgbClr val="0D203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228600" y="4187952"/>
            <a:ext cx="64008" cy="7498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11480" y="4224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500" b="1">
                <a:solidFill>
                  <a:srgbClr val="2DC86E"/>
                </a:solidFill>
              </a:defRPr>
            </a:pPr>
            <a:r>
              <a:rPr lang="en-US" sz="1300" b="1" dirty="0">
                <a:solidFill>
                  <a:srgbClr val="2DC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Kurtosis / Fat Tails (4.4)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4507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400" b="0">
                <a:solidFill>
                  <a:srgbClr val="D2E1E8"/>
                </a:solidFill>
              </a:defRPr>
            </a:pPr>
            <a:r>
              <a:rPr lang="en-US" sz="1400" b="0" dirty="0">
                <a:solidFill>
                  <a:srgbClr val="D2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Occasional extreme loss events — VaR/CVaR may </a:t>
            </a:r>
            <a:r>
              <a:rPr lang="en-US" sz="1200" b="0" dirty="0">
                <a:solidFill>
                  <a:srgbClr val="D2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underestimate</a:t>
            </a:r>
            <a:r>
              <a:rPr lang="en-US" sz="1400" b="0" dirty="0">
                <a:solidFill>
                  <a:srgbClr val="D2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tail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0" y="426110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400" b="0">
                <a:solidFill>
                  <a:srgbClr val="FFFFFF"/>
                </a:solidFill>
              </a:defRPr>
            </a:pPr>
            <a:r>
              <a:rPr lang="en-US" sz="1400" b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Train with CVaR-adjusted loss; implement position circuit breakers during high-volatility regimes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1B6CA8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0C2C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300" b="0">
                <a:solidFill>
                  <a:srgbClr val="00CACC"/>
                </a:solidFill>
              </a:defRPr>
            </a:pPr>
            <a:r>
              <a:rPr lang="en-US" sz="1300" b="0" kern="0" spc="500" dirty="0">
                <a:solidFill>
                  <a:srgbClr val="00C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CNN-LSTM-Attention Finds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 Strong OOS Ranking Signal</a:t>
            </a:r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600" b="0">
                <a:solidFill>
                  <a:srgbClr val="E8F2F8"/>
                </a:solidFill>
              </a:defRPr>
            </a:pPr>
            <a:r>
              <a:rPr sz="1600" b="0">
                <a:solidFill>
                  <a:srgbClr val="E8F2F8"/>
                </a:solidFill>
              </a:rPr>
              <a:t>✓ IC t-stat of 5.46 shows statistically meaningful cross-sectional ranking power</a:t>
            </a:r>
          </a:p>
        </p:txBody>
      </p:sp>
      <p:sp>
        <p:nvSpPr>
          <p:cNvPr id="8" name="Text 6"/>
          <p:cNvSpPr/>
          <p:nvPr/>
        </p:nvSpPr>
        <p:spPr>
          <a:xfrm>
            <a:off x="411480" y="2642616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600" b="0">
                <a:solidFill>
                  <a:srgbClr val="E8F2F8"/>
                </a:solidFill>
              </a:defRPr>
            </a:pPr>
            <a:r>
              <a:rPr sz="1600" b="0">
                <a:solidFill>
                  <a:srgbClr val="E8F2F8"/>
                </a:solidFill>
              </a:rPr>
              <a:t>✓ 40% total return, 11.7% annualized, Sharpe 0.61 over the OOS period</a:t>
            </a:r>
          </a:p>
        </p:txBody>
      </p:sp>
      <p:sp>
        <p:nvSpPr>
          <p:cNvPr id="9" name="Text 7"/>
          <p:cNvSpPr/>
          <p:nvPr/>
        </p:nvSpPr>
        <p:spPr>
          <a:xfrm>
            <a:off x="411480" y="31363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600" b="0">
                <a:solidFill>
                  <a:srgbClr val="E8F2F8"/>
                </a:solidFill>
              </a:defRPr>
            </a:pPr>
            <a:r>
              <a:rPr sz="1600" b="0">
                <a:solidFill>
                  <a:srgbClr val="E8F2F8"/>
                </a:solidFill>
              </a:rPr>
              <a:t>✓ Portfolio result is positive, but not yet cleanly beta-neutral or sector-neutral</a:t>
            </a:r>
          </a:p>
        </p:txBody>
      </p:sp>
      <p:sp>
        <p:nvSpPr>
          <p:cNvPr id="10" name="Text 8"/>
          <p:cNvSpPr/>
          <p:nvPr/>
        </p:nvSpPr>
        <p:spPr>
          <a:xfrm>
            <a:off x="411480" y="363016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600" b="0">
                <a:solidFill>
                  <a:srgbClr val="E8F2F8"/>
                </a:solidFill>
              </a:defRPr>
            </a:pPr>
            <a:r>
              <a:rPr sz="1600" b="0">
                <a:solidFill>
                  <a:srgbClr val="E8F2F8"/>
                </a:solidFill>
              </a:rPr>
              <a:t>✓ CNN-LSTM outperforms simple factor baselines in this experimental setup</a:t>
            </a:r>
          </a:p>
        </p:txBody>
      </p:sp>
      <p:sp>
        <p:nvSpPr>
          <p:cNvPr id="11" name="Text 9"/>
          <p:cNvSpPr/>
          <p:nvPr/>
        </p:nvSpPr>
        <p:spPr>
          <a:xfrm>
            <a:off x="411480" y="4123944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600" b="0">
                <a:solidFill>
                  <a:srgbClr val="E8F2F8"/>
                </a:solidFill>
              </a:defRPr>
            </a:pPr>
            <a:r>
              <a:rPr sz="1600" b="0">
                <a:solidFill>
                  <a:srgbClr val="E8F2F8"/>
                </a:solidFill>
              </a:rPr>
              <a:t>✓ Main next step: market-residual target + beta/sector constraints + stronger validation</a:t>
            </a:r>
          </a:p>
        </p:txBody>
      </p:sp>
      <p:sp>
        <p:nvSpPr>
          <p:cNvPr id="12" name="Shape 10"/>
          <p:cNvSpPr/>
          <p:nvPr/>
        </p:nvSpPr>
        <p:spPr>
          <a:xfrm>
            <a:off x="411480" y="4663440"/>
            <a:ext cx="8229600" cy="22860"/>
          </a:xfrm>
          <a:prstGeom prst="rect">
            <a:avLst/>
          </a:prstGeom>
          <a:solidFill>
            <a:srgbClr val="8EAFC2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1148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100" b="0">
                <a:solidFill>
                  <a:srgbClr val="AAC3CD"/>
                </a:solidFill>
              </a:defRPr>
            </a:pPr>
            <a:r>
              <a:rPr lang="en-US" sz="1100" b="0" dirty="0">
                <a:solidFill>
                  <a:srgbClr val="AAC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ELENE 4904 · Group 9 · April 28,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1883</Words>
  <Application>Microsoft Macintosh PowerPoint</Application>
  <PresentationFormat>Bildschirmpräsentation (16:9)</PresentationFormat>
  <Paragraphs>430</Paragraphs>
  <Slides>19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 Model with CNN-LSTM-Attention</dc:title>
  <dc:subject>PptxGenJS Presentation</dc:subject>
  <dc:creator>Group 9</dc:creator>
  <cp:lastModifiedBy>Carlos Kuchenmeister</cp:lastModifiedBy>
  <cp:revision>3</cp:revision>
  <dcterms:created xsi:type="dcterms:W3CDTF">2026-04-28T11:31:11Z</dcterms:created>
  <dcterms:modified xsi:type="dcterms:W3CDTF">2026-04-28T12:21:00Z</dcterms:modified>
</cp:coreProperties>
</file>